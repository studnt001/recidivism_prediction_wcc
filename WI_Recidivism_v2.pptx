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2978" autoAdjust="0"/>
  </p:normalViewPr>
  <p:slideViewPr>
    <p:cSldViewPr snapToGrid="0" snapToObjects="1">
      <p:cViewPr varScale="1">
        <p:scale>
          <a:sx n="136" d="100"/>
          <a:sy n="136" d="100"/>
        </p:scale>
        <p:origin x="8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461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cidivismpredictionwcc-kfyajwz7quye87vxkogsah.streamlit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Neighborhood-Aware Recidivism Prediction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Socio-Economically Informed Model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Wisconsin Circuit Court Dataset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 696  |  Regis University  |  Data Science Practicum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 New Model When COMPAS Already Exists?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 is proprietary: defendants, lawyers, and judges cannot inspect how scores are generated or challenge them in court.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 is racially biased: it is talked about how it incorrectly flagged Black defendants as high risk at nearly twice the rate of white defendants.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 ignores place: no deployed tool incorporates neighborhood-level socioeconomic context, despite decades of criminological evidence that where you live could predict recidivism.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open-source, auditable recidivism model on WCLD that quantifies how neighborhood deprivation shapes risk and publishes every fairness metric alongside predictions.</a:t>
            </a:r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Dashboard: </a:t>
            </a: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https://recidivismpredictionwcc-kfyajwz7quye87vxkogsah.streamlit.app/</a:t>
            </a:r>
            <a:endParaRPr lang="en-US" sz="1400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Circuit Court Longitudinal Data (WCLD)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1,357,746 model-ready cases after cleaning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original columns; 2000 to 2018 coverage across Wisconsin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recid_180d (new offense within 180 days of disposition)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42.2% recidivism rate (573,131 cases); 57.8% no recidivism (784,624 cases)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excluded: sentences over 180 days cannot be observed for re-offense (structural, not random missingness)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024128"/>
            <a:ext cx="27432" cy="35661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Missing Value 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jail: 56.6% missing — no jail sentence imposed probation: 30.1% missing — no probation imposed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hist_jail columns: 19.1% missing — imputed to 0; binary has_prior_jail flag created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zip: 2.7% missing — address unavailable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Socio-Economic Deprivation Index (SEDI)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 Formula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79576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  =  mean Z-score ( food stamps,  pct Black,  pct Hispanic 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minus  mean Z-score ( median household income,  pct college degree 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more deprived neighborhood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5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07CDF1-584F-C8DD-1441-2C78627EC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232" y="2068184"/>
            <a:ext cx="6440864" cy="2631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Pipeline: Five Key Decisions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Stratified 80/20 split: preserves 42.21% recidivism rate in both training and test partitions; unstratified splits produce incomparable evaluation metrics.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SMOTE on training set only (k=5 neighbors, 50/50 balance, 1.26M rows): applied after the split to prevent synthetic samples from contaminating the held-out test set.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StandardScaler on Logistic Regression only: tree-based models are scale-invariant; scaling Random Forest or XGBoost adds computation with no benefit.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Three models benchmarked: Logistic Regression (C=0.01, strongly regularized baseline), Random Forest (300 trees, max_depth=10, min 20 samples per leaf), XGBoost (400 estimators, learning rate 0.05, 80% subsampling per Chen and Guestrin 2016).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SHAP TreeExplainer for attribution: game-theoretically grounded, instance-level, and globally comparable; SHAP values sum to the model output and decompose cleanly by feature category.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808251"/>
              </p:ext>
            </p:extLst>
          </p:nvPr>
        </p:nvGraphicFramePr>
        <p:xfrm>
          <a:off x="457200" y="1028490"/>
          <a:ext cx="4663439" cy="1036320"/>
        </p:xfrm>
        <a:graphic>
          <a:graphicData uri="http://schemas.openxmlformats.org/drawingml/2006/table">
            <a:tbl>
              <a:tblPr/>
              <a:tblGrid>
                <a:gridCol w="2374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(best)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561816" y="459037"/>
            <a:ext cx="2926080" cy="156591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Recidivism: precision 0.69, recall 0.74, F1 0.71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Recidivism: precision 0.60, recall 0.55, F1 0.57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66%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better at identifying who will NOT reoffend (recall 0.74) than who will (recall 0.55)</a:t>
            </a:r>
            <a:endParaRPr lang="en-US" sz="1000" dirty="0"/>
          </a:p>
        </p:txBody>
      </p:sp>
      <p:sp>
        <p:nvSpPr>
          <p:cNvPr id="5" name="Shape 5"/>
          <p:cNvSpPr/>
          <p:nvPr/>
        </p:nvSpPr>
        <p:spPr>
          <a:xfrm>
            <a:off x="457200" y="4736592"/>
            <a:ext cx="822960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7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37259A-B63F-722E-30FB-E963380F5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64810"/>
            <a:ext cx="8030696" cy="301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Prediction Behavior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8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86C2558-3907-B608-E44E-3E2C4CC67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1801"/>
            <a:ext cx="8097380" cy="27531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Analysis: Individual vs. Neighborhood Effects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SHAP explanation mass from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features (age, priors, severity)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SHAP explanation mass from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features (SEDI, income, education)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8229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one-fifth of the model's explanatory power comes from where a defendant lives a contribution that COMPAS and every other deployed risk tool ignores entirely.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individual predictors: prior misdemeanor count, prior record score, prior felony count, and age at offense.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neighborhood predictors: SEDI composite, median household income, and pct_food_stamps.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 dependence plot for SEDI (Figure 9) shows a non-linear curve: moderate deprivation raises predicted recidivism, but extreme deprivation plateaus and reverses, consistent with the ceiling effect observed in the quintile analysis.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 by Race and Ethnicity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892040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Am. Indian / AK 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African American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58,470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Asian / Pacific Isl.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Caucasian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179,717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Hispanic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0241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371600"/>
            <a:ext cx="27432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gap: 21 points (Am. Indian 0.680 vs Hispanic 0.470)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gap: 20 points (Am. Indian 0.429 vs Hispanic 0.232)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mathematically unavoidable when base rates differ across groups (Chouldechova 2017)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is strong: predicted rates track actual rates within 2 percentage points across all SEDI quintiles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deployment requires disclosing these figures to defendants and courts</a:t>
            </a:r>
            <a:endParaRPr lang="en-US" sz="1200" dirty="0"/>
          </a:p>
        </p:txBody>
      </p:sp>
      <p:sp>
        <p:nvSpPr>
          <p:cNvPr id="5" name="Text 8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kern="0" spc="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FUTURE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78163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features account for 18.7% of SHAP explanation mass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SEDI-recidivism relationship is non-linear; tree models required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and FPR gaps exceed 20 points across racial groups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features dominate (81.3%) but neighborhood adds critical context</a:t>
            </a:r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024128"/>
            <a:ext cx="27432" cy="35661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12277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windows: 365-day or 3-year recidivism outcomes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optimization: multi-objective accuracy vs. fairness parity tradeoff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validation: Illinois or Minnesota court data for generalizability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11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FE087-063F-6CBA-7A07-6034FE55B4D6}"/>
              </a:ext>
            </a:extLst>
          </p:cNvPr>
          <p:cNvSpPr txBox="1"/>
          <p:nvPr/>
        </p:nvSpPr>
        <p:spPr>
          <a:xfrm>
            <a:off x="182880" y="411937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chemeClr val="accent1"/>
                </a:solidFill>
                <a:highlight>
                  <a:srgbClr val="FFFF00"/>
                </a:highlight>
              </a:rPr>
              <a:t>https://recidivismpredictionwcc-kfyajwz7quye87vxkogsah.streamlit.app/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kern="0" spc="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Angwin et al. (2016). Machine Bias. ProPublica.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 et al. (2021). Wisconsin Circuit Court Longitudinal Data. ETH Zurich / Oxford.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Barocas, Hardt and Narayanan (2023). Fairness and Machine Learning. MIT Press.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Chawla et al. (2002). SMOTE: Synthetic Minority Over-sampling Technique. JAIR, 16.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and Guestrin (2016). XGBoost: A Scalable Tree Boosting System. KDD 2016.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Chouldechova (2017). Fair Prediction with Disparate Impact. Big Data, 5(2).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63440" y="1024128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Dressel and Farid (2018). The Accuracy, Fairness, and Limits of Predicting Recidivism. Science Advances.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Hardt, Price and Srebro (2016). Equality of Opportunity in Supervised Learning. NeurIPS.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et al. (2014). Neighborhood Socioeconomic Disadvantage and Rehospitalization. Ann. Int. Med.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and Lee (2017). A Unified Approach to Interpreting Model Predictions. NeurIPS.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 et al. (2011). Scikit-learn: Machine Learning in Python. JMLR, 12.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Sampson, Raudenbush and Earls (1997). Neighborhoods and Violent Crime. Science, 277.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95360" y="48006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44444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1140</Words>
  <Application>Microsoft Office PowerPoint</Application>
  <PresentationFormat>On-screen Show (16:9)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Wisconsin Recidivism: Neighborhood-Aware Prediction</dc:title>
  <dc:subject>PptxGenJS Presentation</dc:subject>
  <dc:creator>PptxGenJS</dc:creator>
  <cp:lastModifiedBy>Zheng, Michelle</cp:lastModifiedBy>
  <cp:revision>10</cp:revision>
  <dcterms:created xsi:type="dcterms:W3CDTF">2026-06-03T00:10:34Z</dcterms:created>
  <dcterms:modified xsi:type="dcterms:W3CDTF">2026-06-03T00:27:40Z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2026-06-03T00:12:45Z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3f1f5aad-db57-4d87-827a-e600ebf15746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10, 3, 0, 1</vt:lpwstr>
  </property>
</Properties>
</file>